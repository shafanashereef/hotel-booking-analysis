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72254c662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72254c662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22525e57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722525e57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22525e57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22525e57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22525e57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722525e57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22525e572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722525e57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22525e57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22525e57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22525e572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722525e572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722525e572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722525e572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22525e572_2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722525e572_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22525e572_2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722525e572_2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5F7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HOTEL BOOKING </a:t>
            </a:r>
            <a:endParaRPr b="1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1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4F4F4F"/>
                </a:solidFill>
                <a:latin typeface="Calibri"/>
                <a:ea typeface="Calibri"/>
                <a:cs typeface="Calibri"/>
                <a:sym typeface="Calibri"/>
              </a:rPr>
              <a:t>Data-Driven Insights for Strategic Improvement</a:t>
            </a:r>
            <a:endParaRPr sz="3200">
              <a:solidFill>
                <a:srgbClr val="4F4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429600" y="3977300"/>
            <a:ext cx="4440000" cy="103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606060"/>
                </a:solidFill>
                <a:latin typeface="Calibri"/>
                <a:ea typeface="Calibri"/>
                <a:cs typeface="Calibri"/>
                <a:sym typeface="Calibri"/>
              </a:rPr>
              <a:t>Presented by:</a:t>
            </a:r>
            <a:r>
              <a:rPr lang="en" sz="1900">
                <a:solidFill>
                  <a:srgbClr val="606060"/>
                </a:solidFill>
                <a:latin typeface="Calibri"/>
                <a:ea typeface="Calibri"/>
                <a:cs typeface="Calibri"/>
                <a:sym typeface="Calibri"/>
              </a:rPr>
              <a:t> Shafana Shereef</a:t>
            </a:r>
            <a:endParaRPr sz="1900">
              <a:solidFill>
                <a:srgbClr val="606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606060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  <a:r>
              <a:rPr lang="en" sz="1900">
                <a:solidFill>
                  <a:srgbClr val="606060"/>
                </a:solidFill>
                <a:latin typeface="Calibri"/>
                <a:ea typeface="Calibri"/>
                <a:cs typeface="Calibri"/>
                <a:sym typeface="Calibri"/>
              </a:rPr>
              <a:t>: 31 July 2025</a:t>
            </a:r>
            <a:endParaRPr sz="1900">
              <a:solidFill>
                <a:srgbClr val="606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5F7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 b="1" sz="36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Font typeface="Calibri"/>
              <a:buChar char="●"/>
            </a:pPr>
            <a:r>
              <a:rPr lang="en" sz="2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Overview of hotel booking analysis project</a:t>
            </a:r>
            <a:br>
              <a:rPr lang="en" sz="2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Font typeface="Calibri"/>
              <a:buChar char="●"/>
            </a:pPr>
            <a:r>
              <a:rPr b="1" lang="en" sz="2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Goals</a:t>
            </a:r>
            <a:r>
              <a:rPr lang="en" sz="2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 Identify booking patterns, reduce cancellations, and optimize revenue</a:t>
            </a:r>
            <a:br>
              <a:rPr lang="en" sz="2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Font typeface="Calibri"/>
              <a:buChar char="●"/>
            </a:pPr>
            <a:r>
              <a:rPr b="1" lang="en" sz="2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Methods</a:t>
            </a:r>
            <a:r>
              <a:rPr lang="en" sz="2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 Data-driven insights from key metrics</a:t>
            </a:r>
            <a:endParaRPr sz="2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5F7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Data Overview</a:t>
            </a:r>
            <a:endParaRPr b="1" sz="36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Font typeface="Calibri"/>
              <a:buChar char="●"/>
            </a:pPr>
            <a:r>
              <a:rPr lang="en" sz="2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Total bookings, cancellations, revenue, ADR, etc.</a:t>
            </a:r>
            <a:endParaRPr sz="2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2200"/>
              <a:buFont typeface="Calibri"/>
              <a:buChar char="●"/>
            </a:pPr>
            <a:r>
              <a:rPr lang="en" sz="2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Dataset fields: Booking ID, Hotel, Booking Date, Lead Time, Guests, Channel, Customer Type, etc.</a:t>
            </a:r>
            <a:endParaRPr sz="2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5F7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Project Objectives</a:t>
            </a:r>
            <a:endParaRPr b="1" sz="36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683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Font typeface="Calibri"/>
              <a:buChar char="●"/>
            </a:pPr>
            <a:r>
              <a:rPr lang="en" sz="2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Reduce cancellation rate</a:t>
            </a:r>
            <a:br>
              <a:rPr lang="en" sz="2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2200"/>
              <a:buFont typeface="Calibri"/>
              <a:buChar char="●"/>
            </a:pPr>
            <a:r>
              <a:rPr lang="en" sz="2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Understand revenue by customer type</a:t>
            </a:r>
            <a:br>
              <a:rPr lang="en" sz="2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2200"/>
              <a:buFont typeface="Calibri"/>
              <a:buChar char="●"/>
            </a:pPr>
            <a:r>
              <a:rPr lang="en" sz="2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Optimize ADR vs. Lead Time</a:t>
            </a:r>
            <a:br>
              <a:rPr lang="en" sz="2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2200"/>
              <a:buFont typeface="Calibri"/>
              <a:buChar char="●"/>
            </a:pPr>
            <a:r>
              <a:rPr lang="en" sz="2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Analyze performance by distribution channel</a:t>
            </a:r>
            <a:endParaRPr sz="2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5F7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Hotel Booking Overview</a:t>
            </a:r>
            <a:endParaRPr b="1" sz="36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Google Shape;80;p17"/>
          <p:cNvGrpSpPr/>
          <p:nvPr/>
        </p:nvGrpSpPr>
        <p:grpSpPr>
          <a:xfrm>
            <a:off x="953105" y="1368636"/>
            <a:ext cx="2743099" cy="1600175"/>
            <a:chOff x="731483" y="1188722"/>
            <a:chExt cx="3200442" cy="1449303"/>
          </a:xfrm>
        </p:grpSpPr>
        <p:sp>
          <p:nvSpPr>
            <p:cNvPr id="81" name="Google Shape;81;p17"/>
            <p:cNvSpPr/>
            <p:nvPr/>
          </p:nvSpPr>
          <p:spPr>
            <a:xfrm>
              <a:off x="731483" y="1188722"/>
              <a:ext cx="3200400" cy="1449300"/>
            </a:xfrm>
            <a:prstGeom prst="roundRect">
              <a:avLst>
                <a:gd fmla="val 16667" name="adj"/>
              </a:avLst>
            </a:prstGeom>
            <a:solidFill>
              <a:srgbClr val="F3F6F9"/>
            </a:solidFill>
            <a:ln cap="flat" cmpd="sng" w="120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2392" rotWithShape="0" algn="bl" dir="5400000" dist="24131">
                <a:srgbClr val="F3F6F9">
                  <a:alpha val="50000"/>
                </a:srgbClr>
              </a:outerShdw>
            </a:effectLst>
          </p:spPr>
          <p:txBody>
            <a:bodyPr anchorCtr="0" anchor="ctr" bIns="115800" lIns="115800" spcFirstLastPara="1" rIns="115800" wrap="square" tIns="115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73"/>
            </a:p>
          </p:txBody>
        </p:sp>
        <p:sp>
          <p:nvSpPr>
            <p:cNvPr id="82" name="Google Shape;82;p17"/>
            <p:cNvSpPr txBox="1"/>
            <p:nvPr/>
          </p:nvSpPr>
          <p:spPr>
            <a:xfrm>
              <a:off x="731525" y="1349450"/>
              <a:ext cx="32004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5800" lIns="115800" spcFirstLastPara="1" rIns="115800" wrap="square" tIns="115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80">
                  <a:solidFill>
                    <a:srgbClr val="666666"/>
                  </a:solidFill>
                  <a:latin typeface="Calibri"/>
                  <a:ea typeface="Calibri"/>
                  <a:cs typeface="Calibri"/>
                  <a:sym typeface="Calibri"/>
                </a:rPr>
                <a:t>📊</a:t>
              </a:r>
              <a:r>
                <a:rPr b="1" lang="en" sz="2300">
                  <a:solidFill>
                    <a:srgbClr val="666666"/>
                  </a:solidFill>
                  <a:latin typeface="Calibri"/>
                  <a:ea typeface="Calibri"/>
                  <a:cs typeface="Calibri"/>
                  <a:sym typeface="Calibri"/>
                </a:rPr>
                <a:t>Total Bookings</a:t>
              </a:r>
              <a:endParaRPr b="1" sz="2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17"/>
            <p:cNvSpPr txBox="1"/>
            <p:nvPr/>
          </p:nvSpPr>
          <p:spPr>
            <a:xfrm>
              <a:off x="731525" y="1903625"/>
              <a:ext cx="3200400" cy="73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5800" lIns="115800" spcFirstLastPara="1" rIns="115800" wrap="square" tIns="1158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4BC0C0"/>
                  </a:solidFill>
                  <a:latin typeface="Calibri"/>
                  <a:ea typeface="Calibri"/>
                  <a:cs typeface="Calibri"/>
                  <a:sym typeface="Calibri"/>
                </a:rPr>
                <a:t>7127045745</a:t>
              </a:r>
              <a:endParaRPr b="1" sz="3600">
                <a:solidFill>
                  <a:srgbClr val="4BC0C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80">
                <a:solidFill>
                  <a:schemeClr val="dk2"/>
                </a:solidFill>
              </a:endParaRPr>
            </a:p>
          </p:txBody>
        </p:sp>
      </p:grpSp>
      <p:grpSp>
        <p:nvGrpSpPr>
          <p:cNvPr id="84" name="Google Shape;84;p17"/>
          <p:cNvGrpSpPr/>
          <p:nvPr/>
        </p:nvGrpSpPr>
        <p:grpSpPr>
          <a:xfrm>
            <a:off x="4737654" y="1368619"/>
            <a:ext cx="2743106" cy="1600200"/>
            <a:chOff x="5029200" y="1188720"/>
            <a:chExt cx="3200450" cy="1828800"/>
          </a:xfrm>
        </p:grpSpPr>
        <p:sp>
          <p:nvSpPr>
            <p:cNvPr id="85" name="Google Shape;85;p17"/>
            <p:cNvSpPr/>
            <p:nvPr/>
          </p:nvSpPr>
          <p:spPr>
            <a:xfrm>
              <a:off x="5029200" y="1188720"/>
              <a:ext cx="3200400" cy="1828800"/>
            </a:xfrm>
            <a:prstGeom prst="roundRect">
              <a:avLst>
                <a:gd fmla="val 16667" name="adj"/>
              </a:avLst>
            </a:prstGeom>
            <a:solidFill>
              <a:srgbClr val="F3F6F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F3F6F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7"/>
            <p:cNvSpPr txBox="1"/>
            <p:nvPr/>
          </p:nvSpPr>
          <p:spPr>
            <a:xfrm>
              <a:off x="5029250" y="1418700"/>
              <a:ext cx="3200400" cy="50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666666"/>
                  </a:solidFill>
                  <a:latin typeface="Calibri"/>
                  <a:ea typeface="Calibri"/>
                  <a:cs typeface="Calibri"/>
                  <a:sym typeface="Calibri"/>
                </a:rPr>
                <a:t>💰</a:t>
              </a:r>
              <a:r>
                <a:rPr b="1" lang="en" sz="2500">
                  <a:solidFill>
                    <a:srgbClr val="666666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lang="en" sz="2500">
                  <a:solidFill>
                    <a:srgbClr val="666666"/>
                  </a:solidFill>
                  <a:latin typeface="Calibri"/>
                  <a:ea typeface="Calibri"/>
                  <a:cs typeface="Calibri"/>
                  <a:sym typeface="Calibri"/>
                </a:rPr>
                <a:t>otal Revenue</a:t>
              </a:r>
              <a:endParaRPr b="1" sz="2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17"/>
            <p:cNvSpPr txBox="1"/>
            <p:nvPr/>
          </p:nvSpPr>
          <p:spPr>
            <a:xfrm>
              <a:off x="5029250" y="2107713"/>
              <a:ext cx="32004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4BC0C0"/>
                  </a:solidFill>
                  <a:latin typeface="Calibri"/>
                  <a:ea typeface="Calibri"/>
                  <a:cs typeface="Calibri"/>
                  <a:sym typeface="Calibri"/>
                </a:rPr>
                <a:t>29600597.44</a:t>
              </a:r>
              <a:endParaRPr b="1" sz="3600">
                <a:solidFill>
                  <a:srgbClr val="4BC0C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88" name="Google Shape;88;p17"/>
          <p:cNvGrpSpPr/>
          <p:nvPr/>
        </p:nvGrpSpPr>
        <p:grpSpPr>
          <a:xfrm>
            <a:off x="953122" y="3200263"/>
            <a:ext cx="2743067" cy="1600200"/>
            <a:chOff x="731520" y="3200400"/>
            <a:chExt cx="3200405" cy="1828800"/>
          </a:xfrm>
        </p:grpSpPr>
        <p:sp>
          <p:nvSpPr>
            <p:cNvPr id="89" name="Google Shape;89;p17"/>
            <p:cNvSpPr/>
            <p:nvPr/>
          </p:nvSpPr>
          <p:spPr>
            <a:xfrm>
              <a:off x="731520" y="3200400"/>
              <a:ext cx="3200400" cy="1828800"/>
            </a:xfrm>
            <a:prstGeom prst="roundRect">
              <a:avLst>
                <a:gd fmla="val 16667" name="adj"/>
              </a:avLst>
            </a:prstGeom>
            <a:solidFill>
              <a:srgbClr val="F3F6F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F3F6F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7"/>
            <p:cNvSpPr txBox="1"/>
            <p:nvPr/>
          </p:nvSpPr>
          <p:spPr>
            <a:xfrm>
              <a:off x="731525" y="3270064"/>
              <a:ext cx="3200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606060"/>
                  </a:solidFill>
                  <a:latin typeface="Calibri"/>
                  <a:ea typeface="Calibri"/>
                  <a:cs typeface="Calibri"/>
                  <a:sym typeface="Calibri"/>
                </a:rPr>
                <a:t>❌</a:t>
              </a:r>
              <a:r>
                <a:rPr b="1" lang="en" sz="2500">
                  <a:solidFill>
                    <a:srgbClr val="60606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b="1" lang="en" sz="2500">
                  <a:solidFill>
                    <a:srgbClr val="606060"/>
                  </a:solidFill>
                  <a:latin typeface="Calibri"/>
                  <a:ea typeface="Calibri"/>
                  <a:cs typeface="Calibri"/>
                  <a:sym typeface="Calibri"/>
                </a:rPr>
                <a:t>ancellation R</a:t>
              </a:r>
              <a:r>
                <a:rPr b="1" lang="en" sz="2500">
                  <a:solidFill>
                    <a:srgbClr val="606060"/>
                  </a:solidFill>
                  <a:latin typeface="Calibri"/>
                  <a:ea typeface="Calibri"/>
                  <a:cs typeface="Calibri"/>
                  <a:sym typeface="Calibri"/>
                </a:rPr>
                <a:t>ate %</a:t>
              </a:r>
              <a:endParaRPr b="1" sz="2500">
                <a:solidFill>
                  <a:srgbClr val="60606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7"/>
            <p:cNvSpPr txBox="1"/>
            <p:nvPr/>
          </p:nvSpPr>
          <p:spPr>
            <a:xfrm>
              <a:off x="731525" y="4065964"/>
              <a:ext cx="32004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4BC0C0"/>
                  </a:solidFill>
                  <a:latin typeface="Calibri"/>
                  <a:ea typeface="Calibri"/>
                  <a:cs typeface="Calibri"/>
                  <a:sym typeface="Calibri"/>
                </a:rPr>
                <a:t>119390</a:t>
              </a:r>
              <a:endParaRPr b="1" sz="3600">
                <a:solidFill>
                  <a:srgbClr val="4BC0C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92" name="Google Shape;92;p17"/>
          <p:cNvGrpSpPr/>
          <p:nvPr/>
        </p:nvGrpSpPr>
        <p:grpSpPr>
          <a:xfrm>
            <a:off x="4737640" y="3200263"/>
            <a:ext cx="2743093" cy="1600200"/>
            <a:chOff x="5029200" y="3200400"/>
            <a:chExt cx="3200435" cy="1828800"/>
          </a:xfrm>
        </p:grpSpPr>
        <p:sp>
          <p:nvSpPr>
            <p:cNvPr id="93" name="Google Shape;93;p17"/>
            <p:cNvSpPr/>
            <p:nvPr/>
          </p:nvSpPr>
          <p:spPr>
            <a:xfrm>
              <a:off x="5029200" y="3200400"/>
              <a:ext cx="3200400" cy="1828800"/>
            </a:xfrm>
            <a:prstGeom prst="roundRect">
              <a:avLst>
                <a:gd fmla="val 16667" name="adj"/>
              </a:avLst>
            </a:prstGeom>
            <a:solidFill>
              <a:srgbClr val="F3F6F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F3F6F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7"/>
            <p:cNvSpPr txBox="1"/>
            <p:nvPr/>
          </p:nvSpPr>
          <p:spPr>
            <a:xfrm>
              <a:off x="5029200" y="3225479"/>
              <a:ext cx="3200400" cy="50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666666"/>
                  </a:solidFill>
                  <a:latin typeface="Calibri"/>
                  <a:ea typeface="Calibri"/>
                  <a:cs typeface="Calibri"/>
                  <a:sym typeface="Calibri"/>
                </a:rPr>
                <a:t>💸</a:t>
              </a:r>
              <a:r>
                <a:rPr b="1" lang="en" sz="2500">
                  <a:solidFill>
                    <a:srgbClr val="666666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lang="en" sz="2500">
                  <a:solidFill>
                    <a:srgbClr val="666666"/>
                  </a:solidFill>
                  <a:latin typeface="Calibri"/>
                  <a:ea typeface="Calibri"/>
                  <a:cs typeface="Calibri"/>
                  <a:sym typeface="Calibri"/>
                </a:rPr>
                <a:t>otal Revenue Lost</a:t>
              </a:r>
              <a:endParaRPr b="1" sz="2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7"/>
            <p:cNvSpPr txBox="1"/>
            <p:nvPr/>
          </p:nvSpPr>
          <p:spPr>
            <a:xfrm>
              <a:off x="5029235" y="4018479"/>
              <a:ext cx="32004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4BC0C0"/>
                  </a:solidFill>
                  <a:latin typeface="Calibri"/>
                  <a:ea typeface="Calibri"/>
                  <a:cs typeface="Calibri"/>
                  <a:sym typeface="Calibri"/>
                </a:rPr>
                <a:t>-13122900.09</a:t>
              </a:r>
              <a:endParaRPr b="1" sz="3200">
                <a:solidFill>
                  <a:srgbClr val="4BC0C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5F7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197975" y="126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Revenue Analysis</a:t>
            </a:r>
            <a:endParaRPr b="1" sz="36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7422" y="912225"/>
            <a:ext cx="4114800" cy="2286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2" name="Google Shape;10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975" y="912237"/>
            <a:ext cx="4114800" cy="2286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3" name="Google Shape;103;p18"/>
          <p:cNvSpPr txBox="1"/>
          <p:nvPr/>
        </p:nvSpPr>
        <p:spPr>
          <a:xfrm>
            <a:off x="266075" y="3198250"/>
            <a:ext cx="4046700" cy="17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🔹 Transient customers generate the highest revenue, contributing over 70% of total earnings.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🔹 Group and Contract segments have minimal impact on total revenue.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🔹 Focusing on the Transient segment can significantly improve profitability.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4677975" y="3101400"/>
            <a:ext cx="4193700" cy="20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🔹 Average Daily Rate (ADR) remains stable across most lead times, showing consistent pricing.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🔹 ADR significantly drops for bookings with lead times above 600 days, indicating heavy discounts or early booking promotions.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🔹 To maximize revenue, pricing strategies should be reviewed for long lead-time bookings.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5F7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11700" y="195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Cancellation Insights</a:t>
            </a:r>
            <a:endParaRPr b="1" sz="36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311700" y="3303725"/>
            <a:ext cx="41148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Out of all bookings, 37% were cancelled.</a:t>
            </a:r>
            <a:endParaRPr b="1" sz="16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This highlights a significant revenue risk — over one-third of all reservations never converted to check-ins.</a:t>
            </a:r>
            <a:endParaRPr sz="16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Reducing this rate by even 5–10% can have a major positive impact on profitability.</a:t>
            </a:r>
            <a:endParaRPr sz="23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4717500" y="3303725"/>
            <a:ext cx="4263000" cy="18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City hotels account for nearly 75% of all cancellations, while resort hotels contribute just 25%.</a:t>
            </a:r>
            <a:endParaRPr b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This suggests that guests at city properties may cancel more often due to business trip changes or flexible cancellation policies.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Focused strategies like stricter policies or deposit enforcement may help reduce cancellation rates for city hotels.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275" y="893025"/>
            <a:ext cx="4114800" cy="2286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3" name="Google Shape;1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7501" y="823750"/>
            <a:ext cx="41148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5F7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311700" y="154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Distribution Channel Effectiveness</a:t>
            </a:r>
            <a:endParaRPr b="1" sz="36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782775"/>
            <a:ext cx="41148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7512" y="782775"/>
            <a:ext cx="41148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0"/>
          <p:cNvSpPr txBox="1"/>
          <p:nvPr/>
        </p:nvSpPr>
        <p:spPr>
          <a:xfrm>
            <a:off x="381000" y="3124775"/>
            <a:ext cx="4045500" cy="19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Char char="●"/>
            </a:pPr>
            <a:r>
              <a:rPr lang="en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Total revenue is approximately $29.6 million, with over $17.2 million (58%) coming from Online Travel Agent A.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Char char="●"/>
            </a:pPr>
            <a:r>
              <a:rPr lang="en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Corporate and Offline Travel Agents contribute $9.1M and $6.9M respectively.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Char char="●"/>
            </a:pPr>
            <a:r>
              <a:rPr lang="en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These three channels account for over 90% of all revenue, highlighting their strategic importance.</a:t>
            </a:r>
            <a:endParaRPr sz="15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4786800" y="2972475"/>
            <a:ext cx="4045500" cy="19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00"/>
              <a:buFont typeface="Calibri"/>
              <a:buChar char="●"/>
            </a:pPr>
            <a:r>
              <a:rPr lang="en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We recorded 119,390 total bookings across all channels.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00"/>
              <a:buFont typeface="Calibri"/>
              <a:buChar char="●"/>
            </a:pPr>
            <a:r>
              <a:rPr lang="en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Online Travel Agents lead with 74,000+ bookings, followed by Offline Travel Agents (24K) and Direct bookings (14.6K).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00"/>
              <a:buFont typeface="Calibri"/>
              <a:buChar char="●"/>
            </a:pPr>
            <a:r>
              <a:rPr lang="en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Corporate bookings are lower in volume (6.6K), but their higher revenue per booking makes them a valuable segment.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5F7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 b="1" sz="36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1"/>
          <p:cNvSpPr txBox="1"/>
          <p:nvPr>
            <p:ph idx="1" type="body"/>
          </p:nvPr>
        </p:nvSpPr>
        <p:spPr>
          <a:xfrm>
            <a:off x="311700" y="1152475"/>
            <a:ext cx="8520600" cy="40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2300"/>
              <a:buFont typeface="Calibri"/>
              <a:buChar char="●"/>
            </a:pPr>
            <a:r>
              <a:rPr b="1" lang="en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Reduce Cancellation Rates</a:t>
            </a:r>
            <a:endParaRPr b="1" sz="16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3810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Enforce stricter policies for high-risk segments (e.g., Group, OTA) and promote refundable deposits.</a:t>
            </a:r>
            <a:endParaRPr sz="16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2300"/>
              <a:buFont typeface="Calibri"/>
              <a:buChar char="●"/>
            </a:pPr>
            <a:r>
              <a:rPr b="1" lang="en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Focus on Transient Customers</a:t>
            </a:r>
            <a:endParaRPr b="1" sz="16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3810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Transient guests generate the most revenue. Prioritize offers and loyalty for this group.</a:t>
            </a:r>
            <a:endParaRPr sz="16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2300"/>
              <a:buFont typeface="Calibri"/>
              <a:buChar char="●"/>
            </a:pPr>
            <a:r>
              <a:rPr b="1" lang="en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Strengthen Direct Bookings</a:t>
            </a:r>
            <a:endParaRPr b="1" sz="16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3810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Invest in website UX, promotions, and retention — direct channels are more stable with lower cancellations.</a:t>
            </a:r>
            <a:endParaRPr sz="16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2300"/>
              <a:buFont typeface="Calibri"/>
              <a:buChar char="●"/>
            </a:pPr>
            <a:r>
              <a:rPr b="1" lang="en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Optimize Long Lead-Time Pricing</a:t>
            </a:r>
            <a:endParaRPr b="1" sz="16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3810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Review pricing strategies for bookings made far in advance, especially where ADR drops.</a:t>
            </a:r>
            <a:endParaRPr sz="16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2300"/>
              <a:buChar char="●"/>
            </a:pPr>
            <a:r>
              <a:rPr b="1" lang="en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Leverage High-Value Channels</a:t>
            </a:r>
            <a:endParaRPr b="1" sz="16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381000" rtl="0" algn="l">
              <a:lnSpc>
                <a:spcPct val="8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Maintain strong relationships with Corporate and OTA partners who bring the most revenue.</a:t>
            </a:r>
            <a:endParaRPr b="1" sz="16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5F7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8750" cy="482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5F7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4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b="1" sz="54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